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all six team members, name the track (Data Science &amp; ML), and give the one-sentence problem statement: we're using patient data to explain and predict medical insurance charges.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dataset: 1,338 patient records, target is charges, predictors include age/sex/bmi/children/smoker/region. Point out the right-skew in charges caused by smokers.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histogram with density curve for charges (clearly bimodal) next to the violin plot split by smoking status. Smoking status explains the two humps in the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scatter plots colored by smoker status. Both age and BMI trend upward with charges, but the smoker/non-smoker split is the dominant pattern in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Correlation heatmap shows smoker (0.93) far outweighs age (0.26) and BMI (0.21). Region boxplot shows charges are flat across all four regions.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pairplot combines all previous insights in one view - notice how cleanly the two smoker groups separate, especially in the BMI-vs-charges and age-vs-charges panels.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both models at a high level: why we compared Linear Regression and Random Forest for predicting exact charges, and why logistic regression to classify smoker status (this is what gives us accuracy/precision/recall).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R2, MAE, RMSE for both models, explain why Random Forest performs better, and mention smoker status dominates feature importance.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accuracy/precision/recall/F1 (all near-perfect), show the confusion matrix, and be upfront in discussion that this is expected given how strongly correlated charges and smoking are - flag it as a limitation for real-world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audience and open the floor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only — skip during the timed run-through. Show this if a judge asks to see the actual model-training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036"/>
          </a:solidFill>
          <a:ln/>
        </p:spPr>
      </p:sp>
      <p:sp>
        <p:nvSpPr>
          <p:cNvPr id="3" name="Shape 1"/>
          <p:cNvSpPr/>
          <p:nvPr/>
        </p:nvSpPr>
        <p:spPr>
          <a:xfrm>
            <a:off x="9262872" y="-1463040"/>
            <a:ext cx="3840480" cy="3840480"/>
          </a:xfrm>
          <a:prstGeom prst="ellipse">
            <a:avLst/>
          </a:prstGeom>
          <a:solidFill>
            <a:srgbClr val="16304F"/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4663440"/>
            <a:ext cx="3108960" cy="3108960"/>
          </a:xfrm>
          <a:prstGeom prst="ellipse">
            <a:avLst/>
          </a:prstGeom>
          <a:solidFill>
            <a:srgbClr val="16304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594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9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&amp; MACHINE LEARNING TRACK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96012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Predicting Medical Insurance Costs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6916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patient data to explain and predict what drives a person's medical insurance charges.</a:t>
            </a:r>
            <a:endParaRPr lang="en-US" sz="1500" dirty="0"/>
          </a:p>
        </p:txBody>
      </p:sp>
      <p:pic>
        <p:nvPicPr>
          <p:cNvPr id="8" name="Image 0" descr="photos/kalkid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9716" y="2788920"/>
            <a:ext cx="1051560" cy="10515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299716" y="2788920"/>
            <a:ext cx="1051560" cy="1051560"/>
          </a:xfrm>
          <a:prstGeom prst="ellipse">
            <a:avLst/>
          </a:prstGeom>
          <a:ln w="31750">
            <a:solidFill>
              <a:srgbClr val="DE9C3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979676" y="391363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Kalkidan Tekle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1979676" y="422452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DE9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LEADER</a:t>
            </a:r>
            <a:endParaRPr lang="en-US" sz="750" dirty="0"/>
          </a:p>
        </p:txBody>
      </p:sp>
      <p:pic>
        <p:nvPicPr>
          <p:cNvPr id="12" name="Image 1" descr="photos/bezaw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7308" y="2788920"/>
            <a:ext cx="1051560" cy="105156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607308" y="2788920"/>
            <a:ext cx="1051560" cy="1051560"/>
          </a:xfrm>
          <a:prstGeom prst="ellipse">
            <a:avLst/>
          </a:prstGeom>
          <a:ln w="19050">
            <a:solidFill>
              <a:srgbClr val="2A4666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287268" y="391363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Bezawit Alemayehu</a:t>
            </a:r>
            <a:endParaRPr lang="en-US" sz="950" dirty="0"/>
          </a:p>
        </p:txBody>
      </p:sp>
      <p:pic>
        <p:nvPicPr>
          <p:cNvPr id="15" name="Image 2" descr="photos/makd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4900" y="2788920"/>
            <a:ext cx="1051560" cy="105156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914900" y="2788920"/>
            <a:ext cx="1051560" cy="1051560"/>
          </a:xfrm>
          <a:prstGeom prst="ellipse">
            <a:avLst/>
          </a:prstGeom>
          <a:ln w="19050">
            <a:solidFill>
              <a:srgbClr val="2A4666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4594860" y="391363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Makda Yirgaye</a:t>
            </a:r>
            <a:endParaRPr lang="en-US" sz="950" dirty="0"/>
          </a:p>
        </p:txBody>
      </p:sp>
      <p:pic>
        <p:nvPicPr>
          <p:cNvPr id="18" name="Image 3" descr="photos/sarasia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2492" y="2788920"/>
            <a:ext cx="1051560" cy="105156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222492" y="2788920"/>
            <a:ext cx="1051560" cy="1051560"/>
          </a:xfrm>
          <a:prstGeom prst="ellipse">
            <a:avLst/>
          </a:prstGeom>
          <a:ln w="19050">
            <a:solidFill>
              <a:srgbClr val="2A4666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5902452" y="391363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Sarasiah Munene Kanelo</a:t>
            </a:r>
            <a:endParaRPr lang="en-US" sz="950" dirty="0"/>
          </a:p>
        </p:txBody>
      </p:sp>
      <p:pic>
        <p:nvPicPr>
          <p:cNvPr id="21" name="Image 4" descr="photos/onneli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0084" y="2788920"/>
            <a:ext cx="1051560" cy="1051560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7530084" y="2788920"/>
            <a:ext cx="1051560" cy="1051560"/>
          </a:xfrm>
          <a:prstGeom prst="ellipse">
            <a:avLst/>
          </a:prstGeom>
          <a:ln w="19050">
            <a:solidFill>
              <a:srgbClr val="2A4666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7210044" y="391363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Onnelie Mathendele</a:t>
            </a:r>
            <a:endParaRPr lang="en-US" sz="950" dirty="0"/>
          </a:p>
        </p:txBody>
      </p:sp>
      <p:pic>
        <p:nvPicPr>
          <p:cNvPr id="24" name="Image 5" descr="photos/bereke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37676" y="2788920"/>
            <a:ext cx="1051560" cy="1051560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8837676" y="2788920"/>
            <a:ext cx="1051560" cy="1051560"/>
          </a:xfrm>
          <a:prstGeom prst="ellipse">
            <a:avLst/>
          </a:prstGeom>
          <a:ln w="19050">
            <a:solidFill>
              <a:srgbClr val="2A4666"/>
            </a:solidFill>
            <a:prstDash val="solid"/>
          </a:ln>
        </p:spPr>
      </p:sp>
      <p:sp>
        <p:nvSpPr>
          <p:cNvPr id="26" name="Text 18"/>
          <p:cNvSpPr txBox="1"/>
          <p:nvPr/>
        </p:nvSpPr>
        <p:spPr>
          <a:xfrm>
            <a:off x="8517636" y="391363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Bereket Tadesse</a:t>
            </a:r>
            <a:endParaRPr lang="en-US" sz="950" dirty="0"/>
          </a:p>
        </p:txBody>
      </p:sp>
      <p:sp>
        <p:nvSpPr>
          <p:cNvPr id="27" name="Text 19"/>
          <p:cNvSpPr txBox="1"/>
          <p:nvPr/>
        </p:nvSpPr>
        <p:spPr>
          <a:xfrm>
            <a:off x="822960" y="6263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INFNOVA Academy  •  Summer Boot Camp 2026  •  Graduation Day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54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3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clean, real-world medical cost dataset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02920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7B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3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Dataset at a glance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6888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4A9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Rows: 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1,338 individuals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09067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4A9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medical insurance cost dataset (insurance_medical_cost_cleaned.csv)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712464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4A9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variable: 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 — annual medical insurance cost ($)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334256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4A9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Predictors: 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sex, BMI, children, smoker, region (one-hot)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95604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4A9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Smokers in data: 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20.8% of individuals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43600" y="1737360"/>
            <a:ext cx="5605272" cy="4480560"/>
          </a:xfrm>
          <a:prstGeom prst="roundRect">
            <a:avLst>
              <a:gd name="adj" fmla="val 2449"/>
            </a:avLst>
          </a:prstGeom>
          <a:solidFill>
            <a:srgbClr val="0F2036"/>
          </a:solidFill>
          <a:ln/>
          <a:effectLst>
            <a:outerShdw sx="100000" sy="100000" kx="0" ky="0" algn="bl" rotWithShape="0" blurRad="101600" dist="38100" dir="5400000">
              <a:srgbClr val="9AA7B5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263640" y="1965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Summary statistics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2514600"/>
          <a:ext cx="5029200" cy="3291840"/>
        </p:xfrm>
        <a:graphic>
          <a:graphicData uri="http://schemas.openxmlformats.org/drawingml/2006/table">
            <a:tbl>
              <a:tblPr/>
              <a:tblGrid>
                <a:gridCol w="1257300"/>
                <a:gridCol w="1257300"/>
                <a:gridCol w="1257300"/>
                <a:gridCol w="12573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Charges ($)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26,948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22,391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Std. dev.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12,996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8,783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63,770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4F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6263640" y="53949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 are right-skewed (skewness ≈ 1.37) — most people pay moderate premiums, but a smoker-driven tail pushes some costs far higher.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1154887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54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3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Charges are bimodal — smoking splits the population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71516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7B5">
                <a:alpha val="25000"/>
              </a:srgbClr>
            </a:outerShdw>
          </a:effectLst>
        </p:spPr>
      </p:sp>
      <p:pic>
        <p:nvPicPr>
          <p:cNvPr id="5" name="Image 0" descr="charts/01_charges_hi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828800"/>
            <a:ext cx="4997196" cy="3703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77356" y="1691640"/>
            <a:ext cx="5271516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7B5">
                <a:alpha val="25000"/>
              </a:srgbClr>
            </a:outerShdw>
          </a:effectLst>
        </p:spPr>
      </p:sp>
      <p:pic>
        <p:nvPicPr>
          <p:cNvPr id="7" name="Image 1" descr="charts/02_violin_smoke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14516" y="1828800"/>
            <a:ext cx="4997196" cy="3703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5833872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non-smokers average $20,780, smokers average $50,466 — over 2x higher.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1154887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54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3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BMI and age both raise cost — smoking amplifies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71516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7B5">
                <a:alpha val="25000"/>
              </a:srgbClr>
            </a:outerShdw>
          </a:effectLst>
        </p:spPr>
      </p:sp>
      <p:pic>
        <p:nvPicPr>
          <p:cNvPr id="5" name="Image 0" descr="charts/04_scatter_bmi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828800"/>
            <a:ext cx="4997196" cy="3703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77356" y="1691640"/>
            <a:ext cx="5271516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7B5">
                <a:alpha val="25000"/>
              </a:srgbClr>
            </a:outerShdw>
          </a:effectLst>
        </p:spPr>
      </p:sp>
      <p:pic>
        <p:nvPicPr>
          <p:cNvPr id="7" name="Image 1" descr="charts/05_scatter_ag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14516" y="1828800"/>
            <a:ext cx="4997196" cy="3703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5833872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correlation with charges — age: 0.26, BMI: 0.21, smoker: 0.93 (by far the strongest).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1154887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54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3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Smoking dominates the correlation structure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71516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7B5">
                <a:alpha val="25000"/>
              </a:srgbClr>
            </a:outerShdw>
          </a:effectLst>
        </p:spPr>
      </p:sp>
      <p:pic>
        <p:nvPicPr>
          <p:cNvPr id="5" name="Image 0" descr="charts/06_heat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828800"/>
            <a:ext cx="4997196" cy="3703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77356" y="1691640"/>
            <a:ext cx="5271516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7B5">
                <a:alpha val="25000"/>
              </a:srgbClr>
            </a:outerShdw>
          </a:effectLst>
        </p:spPr>
      </p:sp>
      <p:pic>
        <p:nvPicPr>
          <p:cNvPr id="7" name="Image 1" descr="charts/03_box_regio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14516" y="1828800"/>
            <a:ext cx="4997196" cy="3703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5833872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region has almost no effect on charges — the boxplots for all four regions overlap heavily.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1154887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54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3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Putting it together: age, BMI, and charges by smoker status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651760" y="1691640"/>
            <a:ext cx="685800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7B5">
                <a:alpha val="25000"/>
              </a:srgbClr>
            </a:outerShdw>
          </a:effectLst>
        </p:spPr>
      </p:sp>
      <p:pic>
        <p:nvPicPr>
          <p:cNvPr id="5" name="Image 0" descr="charts/07_pairplo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880360" y="1874520"/>
            <a:ext cx="6400800" cy="36118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5833872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the smoker group (rose) forms a visibly separate band from non-smokers (teal) across every pairing.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154887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0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9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MODEL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Two models, two questions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25796" cy="3794760"/>
          </a:xfrm>
          <a:prstGeom prst="roundRect">
            <a:avLst>
              <a:gd name="adj" fmla="val 2892"/>
            </a:avLst>
          </a:prstGeom>
          <a:solidFill>
            <a:srgbClr val="16304F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1892808"/>
            <a:ext cx="457200" cy="457200"/>
          </a:xfrm>
          <a:prstGeom prst="ellipse">
            <a:avLst/>
          </a:prstGeom>
          <a:solidFill>
            <a:srgbClr val="50BEA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54480" y="1892808"/>
            <a:ext cx="40370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0B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 — REGRESSION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331720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Linear Regression vs. Random Forest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880360"/>
            <a:ext cx="45857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50B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person's details, what will their exact medical charge be?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566160"/>
            <a:ext cx="45857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50B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 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fits a straight-line weight to each feature (e.g. +$29,328 if smoker). Random Forest instead grows many decision trees on random subsets of the data and averages their predictions, capturing non-linear effects the straight line misses.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23076" y="1600200"/>
            <a:ext cx="5225796" cy="3794760"/>
          </a:xfrm>
          <a:prstGeom prst="roundRect">
            <a:avLst>
              <a:gd name="adj" fmla="val 2892"/>
            </a:avLst>
          </a:prstGeom>
          <a:solidFill>
            <a:srgbClr val="16304F"/>
          </a:solidFill>
          <a:ln/>
        </p:spPr>
      </p:sp>
      <p:sp>
        <p:nvSpPr>
          <p:cNvPr id="11" name="Shape 9"/>
          <p:cNvSpPr/>
          <p:nvPr/>
        </p:nvSpPr>
        <p:spPr>
          <a:xfrm>
            <a:off x="6643116" y="1892808"/>
            <a:ext cx="457200" cy="457200"/>
          </a:xfrm>
          <a:prstGeom prst="ellipse">
            <a:avLst/>
          </a:prstGeom>
          <a:solidFill>
            <a:srgbClr val="C54F7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237476" y="1892808"/>
            <a:ext cx="40370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54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— CLASSIFICATION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643116" y="2331720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Logistic Regression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643116" y="2880360"/>
            <a:ext cx="45857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54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person's details and charges, are they a smoker or not?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643116" y="3566160"/>
            <a:ext cx="45857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54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 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estimates the probability of "smoker" vs. "non-smoker" by fitting an S-shaped curve to the features, then classifies using a 0.5 probability cutoff — turning the regression problem into a yes/no decision.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577840"/>
            <a:ext cx="10908792" cy="685800"/>
          </a:xfrm>
          <a:prstGeom prst="roundRect">
            <a:avLst>
              <a:gd name="adj" fmla="val 13333"/>
            </a:avLst>
          </a:prstGeom>
          <a:solidFill>
            <a:srgbClr val="1D3A5C"/>
          </a:solidFill>
          <a:ln w="12700">
            <a:solidFill>
              <a:srgbClr val="DE9C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557784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E9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selection: 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trained Linear Regression and Random Forest on the same 80/20 train-test split and compared them side by side on held-out data — Random Forest scored higher on every metric, so we chose it as our final regression model (see Results, next).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54887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54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DISCUSSION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3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Regression: predicting the exact charge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12064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7B5">
                <a:alpha val="25000"/>
              </a:srgbClr>
            </a:outerShdw>
          </a:effectLst>
        </p:spPr>
      </p:sp>
      <p:pic>
        <p:nvPicPr>
          <p:cNvPr id="5" name="Image 0" descr="charts/09_actual_vs_pr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920240"/>
            <a:ext cx="4754880" cy="3657600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828800"/>
          <a:ext cx="5486400" cy="173736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(variance explained)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(avg. $ error)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$1,861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$2,437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$1,685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6035040" y="37490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wins: it explains 98% of the variance in charges, with predictions typically within $1,328 of the true cost.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6035040" y="448056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Discussion: smoker status alone accounts for 87% of the Random Forest's feature importance — age and BMI matter, but smoking dominates. With more time, we'd tune hyperparameters and try gradient boosting to close the remaining error gap.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1154887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54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DISCUSSION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3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Classification: predicting smoker status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457200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7B5">
                <a:alpha val="25000"/>
              </a:srgbClr>
            </a:outerShdw>
          </a:effectLst>
        </p:spPr>
      </p:sp>
      <p:pic>
        <p:nvPicPr>
          <p:cNvPr id="5" name="Image 0" descr="charts/10_confusion_matri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" y="1965960"/>
            <a:ext cx="4114800" cy="3566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0" y="1737360"/>
            <a:ext cx="2468880" cy="1417320"/>
          </a:xfrm>
          <a:prstGeom prst="roundRect">
            <a:avLst>
              <a:gd name="adj" fmla="val 6452"/>
            </a:avLst>
          </a:prstGeom>
          <a:solidFill>
            <a:srgbClr val="0F203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486400" y="18745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A9CC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100.0%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2606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183880" y="1737360"/>
            <a:ext cx="2468880" cy="1417320"/>
          </a:xfrm>
          <a:prstGeom prst="roundRect">
            <a:avLst>
              <a:gd name="adj" fmla="val 6452"/>
            </a:avLst>
          </a:prstGeom>
          <a:solidFill>
            <a:srgbClr val="0F203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183880" y="18745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0BEA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100.0%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8183880" y="2606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0" y="3383280"/>
            <a:ext cx="2468880" cy="1417320"/>
          </a:xfrm>
          <a:prstGeom prst="roundRect">
            <a:avLst>
              <a:gd name="adj" fmla="val 6452"/>
            </a:avLst>
          </a:prstGeom>
          <a:solidFill>
            <a:srgbClr val="0F2036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486400" y="35204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E9C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100.0%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0" y="42519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183880" y="3383280"/>
            <a:ext cx="2468880" cy="1417320"/>
          </a:xfrm>
          <a:prstGeom prst="roundRect">
            <a:avLst>
              <a:gd name="adj" fmla="val 6452"/>
            </a:avLst>
          </a:prstGeom>
          <a:solidFill>
            <a:srgbClr val="0F2036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183880" y="35204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54F7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100.0%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8183880" y="42519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0" y="5120640"/>
            <a:ext cx="5166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Discussion: charges is such a strong signal for smoking (correlation 0.93) that the classifier separates the two groups almost perfectly on this dataset — a real deployment would need to predict smoker status without already knowing the charges, which is a harder, more realistic version of this task.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1154887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0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463040"/>
            <a:ext cx="3840480" cy="3840480"/>
          </a:xfrm>
          <a:prstGeom prst="ellipse">
            <a:avLst/>
          </a:prstGeom>
          <a:solidFill>
            <a:srgbClr val="16304F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663440"/>
            <a:ext cx="3108960" cy="3108960"/>
          </a:xfrm>
          <a:prstGeom prst="ellipse">
            <a:avLst/>
          </a:prstGeom>
          <a:solidFill>
            <a:srgbClr val="16304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3774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3375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We'd love to hear them.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Bezawit Alemayehu  •  Makda Yirgaye  •  Kalkidan Tekle  •  Sarasiah Munene Kanelo  •  Onnelie Mathendele  •  Bereket Tadesse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0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9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(BACKUP SLIDE)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code behind the two models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25796" cy="4480560"/>
          </a:xfrm>
          <a:prstGeom prst="roundRect">
            <a:avLst>
              <a:gd name="adj" fmla="val 2041"/>
            </a:avLst>
          </a:prstGeom>
          <a:solidFill>
            <a:srgbClr val="0B1826"/>
          </a:solidFill>
          <a:ln w="12700">
            <a:solidFill>
              <a:srgbClr val="27405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74520"/>
            <a:ext cx="4677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0B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— CHARGES (scikit-learn)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86000"/>
            <a:ext cx="4677156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df[['age','sex','bmi','children','smoker',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'region_northwest','region_southeast','region_southwest']]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df['charges']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X_train, X_test, y_train, y_test = train_test_split(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X, y, test_size=0.2, random_state=42)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 = LinearRegression().fit(X_train, y_train)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  = RandomForestRegressor(n_estimators=300, max_depth=6,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random_state=42).fit(X_train, y_train)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r2_score(y_test, rf.predict(X_test))      # -&gt; 0.983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mean_absolute_error(y_test, rf.predict(X_test))  # -&gt; $1,328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323076" y="1691640"/>
            <a:ext cx="5225796" cy="4480560"/>
          </a:xfrm>
          <a:prstGeom prst="roundRect">
            <a:avLst>
              <a:gd name="adj" fmla="val 2041"/>
            </a:avLst>
          </a:prstGeom>
          <a:solidFill>
            <a:srgbClr val="0B1826"/>
          </a:solidFill>
          <a:ln w="12700">
            <a:solidFill>
              <a:srgbClr val="27405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97396" y="1874520"/>
            <a:ext cx="4677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54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— SMOKER STATUS (scikit-learn)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97396" y="2286000"/>
            <a:ext cx="4677156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Xc = df[['age','sex','bmi','children','charges',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'region_northwest','region_southeast','region_southwest']]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yc = df['smoker']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Xc_train, Xc_test, yc_train, yc_test = train_test_split(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Xc, yc, test_size=0.2, random_state=42, stratify=yc)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clf = LogisticRegression(max_iter=1000).fit(Xc_train, yc_train)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 = clf.predict(Xc_test)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accuracy_score(yc_test, pred)   # -&gt; 1.00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precision_score(yc_test, pred)  # -&gt; 1.00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recall_score(yc_test, pred)     # -&gt; 1.00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63093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slide — kept out of the timed 5-minute flow, ready to show only if asked how the models were built.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2026-09-18T05:47:15Z</dcterms:created>
  <dcterms:modified xsi:type="dcterms:W3CDTF">2026-09-18T05:47:15Z</dcterms:modified>
</cp:coreProperties>
</file>